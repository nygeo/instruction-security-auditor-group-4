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Inter"/>
      <p:regular r:id="rId17"/>
      <p:bold r:id="rId18"/>
      <p:italic r:id="rId19"/>
      <p:boldItalic r:id="rId20"/>
    </p:embeddedFont>
    <p:embeddedFont>
      <p:font typeface="Inter Medium"/>
      <p:regular r:id="rId21"/>
      <p:bold r:id="rId22"/>
      <p:italic r:id="rId23"/>
      <p:boldItalic r:id="rId24"/>
    </p:embeddedFont>
    <p:embeddedFont>
      <p:font typeface="Inter Black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2" Type="http://schemas.openxmlformats.org/officeDocument/2006/relationships/font" Target="fonts/InterMedium-bold.fntdata"/><Relationship Id="rId21" Type="http://schemas.openxmlformats.org/officeDocument/2006/relationships/font" Target="fonts/InterMedium-regular.fntdata"/><Relationship Id="rId24" Type="http://schemas.openxmlformats.org/officeDocument/2006/relationships/font" Target="fonts/InterMedium-boldItalic.fntdata"/><Relationship Id="rId23" Type="http://schemas.openxmlformats.org/officeDocument/2006/relationships/font" Target="fonts/Inter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Black-boldItalic.fntdata"/><Relationship Id="rId25" Type="http://schemas.openxmlformats.org/officeDocument/2006/relationships/font" Target="fonts/InterBlack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-regular.fntdata"/><Relationship Id="rId16" Type="http://schemas.openxmlformats.org/officeDocument/2006/relationships/slide" Target="slides/slide10.xml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9ada0995e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9ada0995e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“This is a dual-layer Linux security system that combines both auditing and intrusion detection.”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“Our team focused on creating a practical, lightweight solution that improves system security without the complexity of enterprise tools.”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“The system is implemented in C, and today we’ll walk through the problem, our architecture, and how our solution works.”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“Let’s start with why this problem matters.”</a:t>
            </a:r>
            <a:endParaRPr/>
          </a:p>
        </p:txBody>
      </p:sp>
      <p:sp>
        <p:nvSpPr>
          <p:cNvPr id="55" name="Google Shape;55;g3d9ada0995e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9ada0995e_2_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d9ada0995e_2_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“Linux systems are powerful, but they’re often misconfigured in ways that go unnoticed.”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“These misconfigurations can create serious vulnerabilities—like weak SSH settings or open ports.”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“Manual auditing is not ideal because it’s time-consuming and prone to human error.”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“While enterprise tools exist, they are often overly complex and unnecessary for smaller systems or learning environments.”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“So our goal was to build something lightweight, efficient, and easy to deploy.”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“The key idea here is: a secure system starts with a hardened configuration.”</a:t>
            </a:r>
            <a:endParaRPr/>
          </a:p>
        </p:txBody>
      </p:sp>
      <p:sp>
        <p:nvSpPr>
          <p:cNvPr id="69" name="Google Shape;69;g3d9ada0995e_2_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9ada0995e_2_3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d9ada0995e_2_3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“Our system is divided into two main modules.”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“Part 1: Security Audit Tool — this performs static analysis of the system configuration.”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“It identifies vulnerabilities, assigns a risk score, and generates recommendations.”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“Part 2: Intrusion Detection Monitor — this runs continuously in real time.”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“It monitors logs, detects threats, and responds automatically.”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“So essentially: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•	Part 1 = Find weaknesses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•	Part 2 = Stop attacks in real time”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“Together, they provide both preventative and reactive security.”</a:t>
            </a:r>
            <a:endParaRPr/>
          </a:p>
        </p:txBody>
      </p:sp>
      <p:sp>
        <p:nvSpPr>
          <p:cNvPr id="86" name="Google Shape;86;g3d9ada0995e_2_3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9ada0995e_2_5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d9ada0995e_2_5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“This slide shows the core checks performed by our auditor.”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“First, we analyze SSH configuration, specifically root login and password authentication.”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“Second, we scan for open ports using the ss -tuln command.”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“Third, we detect world-writable files, which can be modified by any user.”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“Fourth, we check for empty passwords in /etc/shadow, which is a critical vulnerability.”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“Fifth, we identify SUID binaries, which can allow privilege escalation.”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“Sixth, we verify whether the firewall is active.”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“Finally, we perform file integrity checks using SHA256 hashing.”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“On the right side of the slide, you can see actual implementation logic using system-level commands like popen, awk, and find.”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“This shows how our tool directly interacts with the Linux system.”</a:t>
            </a:r>
            <a:endParaRPr/>
          </a:p>
        </p:txBody>
      </p:sp>
      <p:sp>
        <p:nvSpPr>
          <p:cNvPr id="107" name="Google Shape;107;g3d9ada0995e_2_5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9ada0995e_2_8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d9ada0995e_2_8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“Once vulnerabilities are detected, we assign a risk score based on severity.”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“For example: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•	Empty passwords and inactive firewalls are considered high-risk issues.”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•	Weak SSH settings and world-writable files are medium risk.”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“We then categorize systems into: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•	Low risk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•	Medium risk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•	High risk”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“What makes our tool useful is that it doesn’t just detect problems—it also provides clear, actionable fixes.”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“Examples include: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•	Disabling root SSH login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•	Enabling the firewall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•	Fixing file permissions”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“So the output is not just data—it’s guidance for improving security immediately.”</a:t>
            </a:r>
            <a:endParaRPr/>
          </a:p>
        </p:txBody>
      </p:sp>
      <p:sp>
        <p:nvSpPr>
          <p:cNvPr id="142" name="Google Shape;142;g3d9ada0995e_2_8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9ada0995e_2_1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d9ada0995e_2_12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Darajah: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T</a:t>
            </a:r>
            <a:r>
              <a:rPr lang="en"/>
              <a:t>his is the Intrusion Detection Monitor.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system continuously monitors logs like: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•	auth.log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•	sys.log”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While It takes in logs, its trying to detect suspicious activity such as: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•	Failed login attempts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•	Invalid users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•	Suspicious sudo usage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Once a threat is detected, the system responds automatically using iptables.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There is also threshold-based banning, meaning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After 4 failed attempts, the IP is automatically blocked.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Detection alone isn’t enough—response is what actually protects the system.</a:t>
            </a:r>
            <a:endParaRPr/>
          </a:p>
        </p:txBody>
      </p:sp>
      <p:sp>
        <p:nvSpPr>
          <p:cNvPr id="177" name="Google Shape;177;g3d9ada0995e_2_12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9ada0995e_2_13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d9ada0995e_2_13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This slide breaks down how our automated banning system works step by step.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•First, we detect suspicious patterns in logs.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•Then each event and log them with timestamps.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•The Ip Is then validated to check if it was banned.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•If not banned, we execute the ban using an iptables command: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iptables -I INPUT 1 -s [IP] -j DROP”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•A persistent log of all events and bans are kept to ensure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•both security and accountability.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•This system is simple, but effective in stopping brute-force attacks.</a:t>
            </a:r>
            <a:endParaRPr/>
          </a:p>
        </p:txBody>
      </p:sp>
      <p:sp>
        <p:nvSpPr>
          <p:cNvPr id="196" name="Google Shape;196;g3d9ada0995e_2_13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9ada0995e_2_15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d9ada0995e_2_15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•Our implementation uses a combination of C and Bash scripting.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</a:t>
            </a:r>
            <a:r>
              <a:rPr lang="en"/>
              <a:t>The Main.c file controls the overall flow and menu system.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•Part_1.c handles all auditing logic using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system commands.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•DetectionMonitor.c handles real-time monitoring using background processing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•Functions likepopen() and system() to interact with the Linux environment.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•The system is compiled into a single binary, which keeps it lightweight and portable.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•This design allows us to combine low-level control with high-level automation.</a:t>
            </a:r>
            <a:endParaRPr/>
          </a:p>
        </p:txBody>
      </p:sp>
      <p:sp>
        <p:nvSpPr>
          <p:cNvPr id="218" name="Google Shape;218;g3d9ada0995e_2_15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9ada0995e_2_17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d9ada0995e_2_17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“To ensure reliability, we built a self-test mode into the system.”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“First, we simulate attacks using the logger command.”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•	“For example, we inject fake failed login attempts into system logs.”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“Second, the system verifies that these events are correctly detected.”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“Third, it checks whether the IP is successfully blocked using iptables.”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“Finally, the system cleans up and shuts down safely.”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“This ensures our tool is not just functional—but also tested and reliable.”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“Because in security, testing is critical.”</a:t>
            </a:r>
            <a:endParaRPr/>
          </a:p>
        </p:txBody>
      </p:sp>
      <p:sp>
        <p:nvSpPr>
          <p:cNvPr id="237" name="Google Shape;237;g3d9ada0995e_2_17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9ada0995e_2_19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d9ada0995e_2_19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To conclude, our project demonstrates that: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•	Automated auditing is the first line of defense.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•	Real-time monitoring provides continuous protection.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“Our tool offers a practical and accessible way to secure Linux systems.”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“Even small improvements—like fixing permissions or closing ports—can significantly reduce risk.”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•	The main idea is: “Every vulnerability you fix is one less opportunity for an attacker.”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•	“Thank you for your time—we welcome any questions.”</a:t>
            </a:r>
            <a:endParaRPr/>
          </a:p>
        </p:txBody>
      </p:sp>
      <p:sp>
        <p:nvSpPr>
          <p:cNvPr id="256" name="Google Shape;256;g3d9ada0995e_2_19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" name="Google Shape;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03750"/>
            <a:ext cx="9144000" cy="524725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/>
          <p:nvPr/>
        </p:nvSpPr>
        <p:spPr>
          <a:xfrm>
            <a:off x="571500" y="863333"/>
            <a:ext cx="4800600" cy="1005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Inter Black"/>
              <a:buNone/>
            </a:pPr>
            <a:r>
              <a:rPr b="1" i="0" lang="en" sz="3300" u="none" cap="none" strike="noStrike">
                <a:solidFill>
                  <a:srgbClr val="0F172A"/>
                </a:solidFill>
                <a:latin typeface="Inter Black"/>
                <a:ea typeface="Inter Black"/>
                <a:cs typeface="Inter Black"/>
                <a:sym typeface="Inter Black"/>
              </a:rPr>
              <a:t>Instruction Security Auditor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571500" y="2040601"/>
            <a:ext cx="4800600" cy="667941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6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Inter"/>
              <a:buNone/>
            </a:pPr>
            <a:r>
              <a:rPr b="1" i="0" lang="en" sz="1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 Dual-Layer Linux Security Audit &amp; Intrusion Detection System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800100" y="3094206"/>
            <a:ext cx="558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Group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800100" y="3337200"/>
            <a:ext cx="41760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 Medium"/>
              <a:buNone/>
            </a:pPr>
            <a:r>
              <a:rPr b="0" i="0" lang="en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Team: James Roemmelt, Geovani Lopez,</a:t>
            </a:r>
            <a:r>
              <a:rPr lang="en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b="0" i="0" lang="en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Marceliott</a:t>
            </a:r>
            <a:r>
              <a:rPr lang="en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b="0" i="0" lang="en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Encarnacion,</a:t>
            </a:r>
            <a:r>
              <a:rPr lang="en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Julian Mora, Darajah Harriott, and Nicholas Medordi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800150" y="3778350"/>
            <a:ext cx="1925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 Medium"/>
              <a:buNone/>
            </a:pPr>
            <a:r>
              <a:rPr b="0" i="0" lang="en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Implementation: C</a:t>
            </a:r>
            <a:r>
              <a:rPr lang="en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and Bash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800100" y="4021206"/>
            <a:ext cx="135909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 Medium"/>
              <a:buNone/>
            </a:pPr>
            <a:r>
              <a:rPr b="0" i="0" lang="en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Date: April 29, 2026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5943600" y="-103800"/>
            <a:ext cx="3200400" cy="52473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5943600" y="-103850"/>
            <a:ext cx="1480500" cy="524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" name="Google Shape;7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Inter Black"/>
              <a:buNone/>
            </a:pPr>
            <a:r>
              <a:rPr b="1" i="0" lang="en" sz="1600" u="none" cap="none" strike="noStrike">
                <a:solidFill>
                  <a:srgbClr val="0F172A"/>
                </a:solidFill>
                <a:latin typeface="Inter Black"/>
                <a:ea typeface="Inter Black"/>
                <a:cs typeface="Inter Black"/>
                <a:sym typeface="Inter Black"/>
              </a:rPr>
              <a:t>The Need for Localized Security Auditing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857250" y="2144409"/>
            <a:ext cx="4429125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Linux systems often suffer from </a:t>
            </a:r>
            <a:r>
              <a:rPr b="1" i="0" lang="en" sz="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common misconfigurations</a:t>
            </a: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that go unnoticed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857250" y="2498722"/>
            <a:ext cx="4429125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Manual auditing is </a:t>
            </a:r>
            <a:r>
              <a:rPr b="1" i="0" lang="en" sz="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time-consuming</a:t>
            </a: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and prone to human error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857250" y="2853035"/>
            <a:ext cx="4429125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Existing enterprise tools can be </a:t>
            </a:r>
            <a:r>
              <a:rPr b="1" i="0" lang="en" sz="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over-engineered</a:t>
            </a: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for simple server hardening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857250" y="3207348"/>
            <a:ext cx="4429125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Our solution provides a </a:t>
            </a:r>
            <a:r>
              <a:rPr b="1" i="0" lang="en" sz="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lightweight, single-binary approach</a:t>
            </a: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to system security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5715000" y="991195"/>
            <a:ext cx="2857500" cy="3723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685800" y="2172984"/>
            <a:ext cx="51792" cy="1371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600"/>
              <a:buFont typeface="Inter Medium"/>
              <a:buNone/>
            </a:pPr>
            <a:r>
              <a:rPr b="0" i="0" lang="en" sz="6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■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685800" y="2527297"/>
            <a:ext cx="51792" cy="1371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600"/>
              <a:buFont typeface="Inter Medium"/>
              <a:buNone/>
            </a:pPr>
            <a:r>
              <a:rPr b="0" i="0" lang="en" sz="6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■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685800" y="2881610"/>
            <a:ext cx="51792" cy="1371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600"/>
              <a:buFont typeface="Inter Medium"/>
              <a:buNone/>
            </a:pPr>
            <a:r>
              <a:rPr b="0" i="0" lang="en" sz="6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■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685800" y="3235923"/>
            <a:ext cx="51792" cy="1371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600"/>
              <a:buFont typeface="Inter Medium"/>
              <a:buNone/>
            </a:pPr>
            <a:r>
              <a:rPr b="0" i="0" lang="en" sz="6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■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6000750" y="2493001"/>
            <a:ext cx="2286000" cy="7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1" lang="en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secure system starts with a hardened configuration.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8" name="Google Shape;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Inter Black"/>
              <a:buNone/>
            </a:pPr>
            <a:r>
              <a:rPr b="1" i="0" lang="en" sz="1600" u="none" cap="none" strike="noStrike">
                <a:solidFill>
                  <a:srgbClr val="0F172A"/>
                </a:solidFill>
                <a:latin typeface="Inter Black"/>
                <a:ea typeface="Inter Black"/>
                <a:cs typeface="Inter Black"/>
                <a:sym typeface="Inter Black"/>
              </a:rPr>
              <a:t>Project Overview: Two-Part Security Architecture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571500" y="991195"/>
            <a:ext cx="3857625" cy="3723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571500" y="991195"/>
            <a:ext cx="3857625" cy="571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857250" y="1276945"/>
            <a:ext cx="3286125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00"/>
              <a:buFont typeface="Inter Black"/>
              <a:buNone/>
            </a:pPr>
            <a:r>
              <a:rPr b="1" i="0" lang="en" sz="700" u="none" cap="none" strike="noStrike">
                <a:solidFill>
                  <a:srgbClr val="0F172A"/>
                </a:solidFill>
                <a:latin typeface="Inter Black"/>
                <a:ea typeface="Inter Black"/>
                <a:cs typeface="Inter Black"/>
                <a:sym typeface="Inter Black"/>
              </a:rPr>
              <a:t>MODULE 01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857250" y="1455539"/>
            <a:ext cx="328612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 Black"/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Inter Black"/>
                <a:ea typeface="Inter Black"/>
                <a:cs typeface="Inter Black"/>
                <a:sym typeface="Inter Black"/>
              </a:rPr>
              <a:t>Part 1: Security Audit Tool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1085850" y="1834158"/>
            <a:ext cx="3057525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Inter Medium"/>
              <a:buNone/>
            </a:pPr>
            <a:r>
              <a:rPr b="0" i="0" lang="en" sz="9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Static configuration analysis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1085850" y="2128475"/>
            <a:ext cx="3057525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Inter Medium"/>
              <a:buNone/>
            </a:pPr>
            <a:r>
              <a:rPr b="0" i="0" lang="en" sz="9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Risk scoring and evaluation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1085850" y="2422792"/>
            <a:ext cx="3057525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Inter Medium"/>
              <a:buNone/>
            </a:pPr>
            <a:r>
              <a:rPr b="0" i="0" lang="en" sz="9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Remediation guide generation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4714875" y="991195"/>
            <a:ext cx="3857625" cy="3723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4714875" y="991195"/>
            <a:ext cx="3857625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5000625" y="1276945"/>
            <a:ext cx="3286125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00"/>
              <a:buFont typeface="Inter Black"/>
              <a:buNone/>
            </a:pPr>
            <a:r>
              <a:rPr b="1" i="0" lang="en" sz="700" u="none" cap="none" strike="noStrike">
                <a:solidFill>
                  <a:srgbClr val="F59E0B"/>
                </a:solidFill>
                <a:latin typeface="Inter Black"/>
                <a:ea typeface="Inter Black"/>
                <a:cs typeface="Inter Black"/>
                <a:sym typeface="Inter Black"/>
              </a:rPr>
              <a:t>MODULE 02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5000625" y="1455539"/>
            <a:ext cx="328612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Inter Black"/>
              <a:buNone/>
            </a:pPr>
            <a:r>
              <a:rPr b="1" i="0" lang="en" sz="1200" u="none" cap="none" strike="noStrike">
                <a:solidFill>
                  <a:srgbClr val="F59E0B"/>
                </a:solidFill>
                <a:latin typeface="Inter Black"/>
                <a:ea typeface="Inter Black"/>
                <a:cs typeface="Inter Black"/>
                <a:sym typeface="Inter Black"/>
              </a:rPr>
              <a:t>Part 2: Intrusion Detection Monitor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5229225" y="1834158"/>
            <a:ext cx="3057525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 Medium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Real-time log monitoring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5229225" y="2128475"/>
            <a:ext cx="3057525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 Medium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Automated threat response (iptables)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5229225" y="2422792"/>
            <a:ext cx="3057525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 Medium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Integrated self-test functionality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Inter Black"/>
              <a:buNone/>
            </a:pPr>
            <a:r>
              <a:rPr b="1" i="0" lang="en" sz="1600" u="none" cap="none" strike="noStrike">
                <a:solidFill>
                  <a:srgbClr val="0F172A"/>
                </a:solidFill>
                <a:latin typeface="Inter Black"/>
                <a:ea typeface="Inter Black"/>
                <a:cs typeface="Inter Black"/>
                <a:sym typeface="Inter Black"/>
              </a:rPr>
              <a:t>Part 1: Automated Security Configuration Audit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857250" y="992842"/>
            <a:ext cx="4257675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SSH Configuration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857250" y="1212149"/>
            <a:ext cx="324862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b="0" i="0" lang="en" sz="9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Audits PermitRootLogin and PasswordAuthentication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857250" y="1524326"/>
            <a:ext cx="4257675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Open Ports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857250" y="1743633"/>
            <a:ext cx="279142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b="0" i="0" lang="en" sz="9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Identifies active listening services via ss -tuln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857250" y="2055809"/>
            <a:ext cx="4257675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World-Writable Files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857250" y="2275117"/>
            <a:ext cx="275213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b="0" i="0" lang="en" sz="9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Finds files with dangerous 0002 permissions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857250" y="2587293"/>
            <a:ext cx="4257675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4. Empty Passwords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857250" y="2806601"/>
            <a:ext cx="282535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b="0" i="0" lang="en" sz="9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Audits /etc/shadow for account vulnerabilities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857250" y="3118777"/>
            <a:ext cx="4257675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5. SUID Files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857250" y="3338085"/>
            <a:ext cx="289857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b="0" i="0" lang="en" sz="9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Locates files with elevated execution privileges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857250" y="3650261"/>
            <a:ext cx="4257675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6. Firewall Status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857250" y="3869568"/>
            <a:ext cx="248781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b="0" i="0" lang="en" sz="9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Verifies if UFW or Firewall-CMD is active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857250" y="4181745"/>
            <a:ext cx="4257675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7. File Integrity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857250" y="4401052"/>
            <a:ext cx="307717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b="0" i="0" lang="en" sz="9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Generates SHA256 hashes for critical system files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5543550" y="1609130"/>
            <a:ext cx="3028950" cy="2487811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6115050" y="1855143"/>
            <a:ext cx="245745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Inter Black"/>
              <a:buNone/>
            </a:pPr>
            <a:r>
              <a:rPr b="1" i="0" lang="en" sz="1000" u="none" cap="none" strike="noStrike">
                <a:solidFill>
                  <a:srgbClr val="F59E0B"/>
                </a:solidFill>
                <a:latin typeface="Inter Black"/>
                <a:ea typeface="Inter Black"/>
                <a:cs typeface="Inter Black"/>
                <a:sym typeface="Inter Black"/>
              </a:rPr>
              <a:t>IMPLEMENTATION LOGIC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5829300" y="2239566"/>
            <a:ext cx="2457450" cy="307181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5829300" y="2239566"/>
            <a:ext cx="28575" cy="307181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5829300" y="2239566"/>
            <a:ext cx="2457450" cy="307181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102100" spcFirstLastPara="1" rIns="102100" wrap="square" tIns="102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popen("ss -tuln", "r")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5829300" y="2632472"/>
            <a:ext cx="2457450" cy="307181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5829300" y="2632472"/>
            <a:ext cx="28575" cy="307181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5829300" y="2632472"/>
            <a:ext cx="2457450" cy="307181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102100" spcFirstLastPara="1" rIns="102100" wrap="square" tIns="102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awk -F: '($2 == "")' /etc/shadow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5829300" y="3025378"/>
            <a:ext cx="2457450" cy="307181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5829300" y="3025378"/>
            <a:ext cx="28575" cy="307181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5829300" y="3025378"/>
            <a:ext cx="2457450" cy="307181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102100" spcFirstLastPara="1" rIns="102100" wrap="square" tIns="102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find / -perm -4000 2&gt;/dev/null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5829300" y="3418284"/>
            <a:ext cx="2457450" cy="307181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5829300" y="3418284"/>
            <a:ext cx="28575" cy="307181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5829300" y="3418284"/>
            <a:ext cx="2457450" cy="307181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102100" spcFirstLastPara="1" rIns="102100" wrap="square" tIns="102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sha256sum /etc/passwd /etc/shadow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4" name="Google Shape;14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Inter Black"/>
              <a:buNone/>
            </a:pPr>
            <a:r>
              <a:rPr b="1" i="0" lang="en" sz="1600" u="none" cap="none" strike="noStrike">
                <a:solidFill>
                  <a:srgbClr val="0F172A"/>
                </a:solidFill>
                <a:latin typeface="Inter Black"/>
                <a:ea typeface="Inter Black"/>
                <a:cs typeface="Inter Black"/>
                <a:sym typeface="Inter Black"/>
              </a:rPr>
              <a:t>Risk Scoring &amp; Actionable Recommendations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571500" y="991195"/>
            <a:ext cx="454342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AUDIT SCORING LOGIC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571500" y="1318022"/>
            <a:ext cx="3475127" cy="40183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571500" y="1705570"/>
            <a:ext cx="3475127" cy="142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571500" y="1318022"/>
            <a:ext cx="3475127" cy="401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36000" lIns="136000" spcFirstLastPara="1" rIns="136000" wrap="square" tIns="1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Inter"/>
              <a:buNone/>
            </a:pPr>
            <a:r>
              <a:rPr b="1" i="0" lang="en" sz="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Security Issue Detected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4046627" y="1318022"/>
            <a:ext cx="1068298" cy="40183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4046627" y="1705570"/>
            <a:ext cx="1068298" cy="142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4046627" y="1318022"/>
            <a:ext cx="1068298" cy="401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36000" lIns="136000" spcFirstLastPara="1" rIns="136000" wrap="square" tIns="1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Inter"/>
              <a:buNone/>
            </a:pPr>
            <a:r>
              <a:rPr b="1" i="0" lang="en" sz="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Risk Impact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571500" y="1712714"/>
            <a:ext cx="3475127" cy="369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36000" lIns="136000" spcFirstLastPara="1" rIns="136000" wrap="square" tIns="1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Empty Passwords Found in /etc/shadow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4046627" y="1712714"/>
            <a:ext cx="1068298" cy="369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36000" lIns="136000" spcFirstLastPara="1" rIns="136000" wrap="square" tIns="1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Inter Black"/>
              <a:buNone/>
            </a:pPr>
            <a:r>
              <a:rPr b="1" i="0" lang="en" sz="800" u="none" cap="none" strike="noStrike">
                <a:solidFill>
                  <a:srgbClr val="F59E0B"/>
                </a:solidFill>
                <a:latin typeface="Inter Black"/>
                <a:ea typeface="Inter Black"/>
                <a:cs typeface="Inter Black"/>
                <a:sym typeface="Inter Black"/>
              </a:rPr>
              <a:t>+3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571500" y="2082403"/>
            <a:ext cx="3475127" cy="373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136000" lIns="136000" spcFirstLastPara="1" rIns="136000" wrap="square" tIns="1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Firewall Inactive (UFW/Firewall-CMD)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4046627" y="2082403"/>
            <a:ext cx="1068298" cy="373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136000" lIns="136000" spcFirstLastPara="1" rIns="136000" wrap="square" tIns="1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Inter Black"/>
              <a:buNone/>
            </a:pPr>
            <a:r>
              <a:rPr b="1" i="0" lang="en" sz="800" u="none" cap="none" strike="noStrike">
                <a:solidFill>
                  <a:srgbClr val="F59E0B"/>
                </a:solidFill>
                <a:latin typeface="Inter Black"/>
                <a:ea typeface="Inter Black"/>
                <a:cs typeface="Inter Black"/>
                <a:sym typeface="Inter Black"/>
              </a:rPr>
              <a:t>+3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571500" y="2455664"/>
            <a:ext cx="3475127" cy="373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136000" lIns="136000" spcFirstLastPara="1" rIns="136000" wrap="square" tIns="1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Weak SSH Settings (Root Login/Password Auth)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4046627" y="2455664"/>
            <a:ext cx="1068298" cy="373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136000" lIns="136000" spcFirstLastPara="1" rIns="136000" wrap="square" tIns="1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Inter Black"/>
              <a:buNone/>
            </a:pPr>
            <a:r>
              <a:rPr b="1" i="0" lang="en" sz="800" u="none" cap="none" strike="noStrike">
                <a:solidFill>
                  <a:srgbClr val="F59E0B"/>
                </a:solidFill>
                <a:latin typeface="Inter Black"/>
                <a:ea typeface="Inter Black"/>
                <a:cs typeface="Inter Black"/>
                <a:sym typeface="Inter Black"/>
              </a:rPr>
              <a:t>+2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571500" y="2828925"/>
            <a:ext cx="3475127" cy="373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136000" lIns="136000" spcFirstLastPara="1" rIns="136000" wrap="square" tIns="1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World-Writable Files Detected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4046627" y="2828925"/>
            <a:ext cx="1068298" cy="373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136000" lIns="136000" spcFirstLastPara="1" rIns="136000" wrap="square" tIns="1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Inter Black"/>
              <a:buNone/>
            </a:pPr>
            <a:r>
              <a:rPr b="1" i="0" lang="en" sz="800" u="none" cap="none" strike="noStrike">
                <a:solidFill>
                  <a:srgbClr val="F59E0B"/>
                </a:solidFill>
                <a:latin typeface="Inter Black"/>
                <a:ea typeface="Inter Black"/>
                <a:cs typeface="Inter Black"/>
                <a:sym typeface="Inter Black"/>
              </a:rPr>
              <a:t>+2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571500" y="3202186"/>
            <a:ext cx="3475127" cy="373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136000" lIns="136000" spcFirstLastPara="1" rIns="136000" wrap="square" tIns="1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Excessive SUID Binaries (&gt;50)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4046627" y="3202186"/>
            <a:ext cx="1068298" cy="373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136000" lIns="136000" spcFirstLastPara="1" rIns="136000" wrap="square" tIns="1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Inter Black"/>
              <a:buNone/>
            </a:pPr>
            <a:r>
              <a:rPr b="1" i="0" lang="en" sz="800" u="none" cap="none" strike="noStrike">
                <a:solidFill>
                  <a:srgbClr val="F59E0B"/>
                </a:solidFill>
                <a:latin typeface="Inter Black"/>
                <a:ea typeface="Inter Black"/>
                <a:cs typeface="Inter Black"/>
                <a:sym typeface="Inter Black"/>
              </a:rPr>
              <a:t>+1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5543550" y="991195"/>
            <a:ext cx="3028950" cy="1126927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5772150" y="1219795"/>
            <a:ext cx="25717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Inter Black"/>
              <a:buNone/>
            </a:pPr>
            <a:r>
              <a:rPr b="1" i="0" lang="en" sz="900" u="none" cap="none" strike="noStrike">
                <a:solidFill>
                  <a:srgbClr val="F59E0B"/>
                </a:solidFill>
                <a:latin typeface="Inter Black"/>
                <a:ea typeface="Inter Black"/>
                <a:cs typeface="Inter Black"/>
                <a:sym typeface="Inter Black"/>
              </a:rPr>
              <a:t>Risk Thresholds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5772150" y="1489472"/>
            <a:ext cx="809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85075" spcFirstLastPara="1" rIns="85075" wrap="square" tIns="85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0–4</a:t>
            </a:r>
            <a:br>
              <a:rPr b="1" i="0" lang="en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SAFE/LOW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6653203" y="1489472"/>
            <a:ext cx="809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85075" spcFirstLastPara="1" rIns="85075" wrap="square" tIns="85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5–9</a:t>
            </a:r>
            <a:br>
              <a:rPr b="1" i="0" lang="en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7534256" y="1489472"/>
            <a:ext cx="80964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85075" spcFirstLastPara="1" rIns="85075" wrap="square" tIns="85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10+</a:t>
            </a:r>
            <a:br>
              <a:rPr b="1" i="0" lang="en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5772150" y="2403872"/>
            <a:ext cx="28003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Actionable Fixes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5772150" y="2673548"/>
            <a:ext cx="2800350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Inter Medium"/>
              <a:buNone/>
            </a:pPr>
            <a:r>
              <a:rPr b="0" i="0" lang="en" sz="7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Disable root SSH login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5772150" y="2853565"/>
            <a:ext cx="2800350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Inter Medium"/>
              <a:buNone/>
            </a:pPr>
            <a:r>
              <a:rPr b="0" i="0" lang="en" sz="7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Enable system firewall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5772150" y="3033582"/>
            <a:ext cx="2800350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Inter Medium"/>
              <a:buNone/>
            </a:pPr>
            <a:r>
              <a:rPr b="0" i="0" lang="en" sz="7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Remove unnecessary SUID files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5772150" y="3213599"/>
            <a:ext cx="2800350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Inter Medium"/>
              <a:buNone/>
            </a:pPr>
            <a:r>
              <a:rPr b="0" i="0" lang="en" sz="7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Fix world-writable permissions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5772150" y="3393616"/>
            <a:ext cx="2800350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Inter Medium"/>
              <a:buNone/>
            </a:pPr>
            <a:r>
              <a:rPr b="0" i="0" lang="en" sz="7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Audit open ports &amp; services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9" name="Google Shape;1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Inter Black"/>
              <a:buNone/>
            </a:pPr>
            <a:r>
              <a:rPr b="1" i="0" lang="en" sz="1600" u="none" cap="none" strike="noStrike">
                <a:solidFill>
                  <a:srgbClr val="0F172A"/>
                </a:solidFill>
                <a:latin typeface="Inter Black"/>
                <a:ea typeface="Inter Black"/>
                <a:cs typeface="Inter Black"/>
                <a:sym typeface="Inter Black"/>
              </a:rPr>
              <a:t>Part 2: Real-Time Intrusion Detection Monitor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685800" y="1615827"/>
            <a:ext cx="51792" cy="1371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600"/>
              <a:buFont typeface="Inter Medium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857250" y="1615823"/>
            <a:ext cx="36387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Log Analysis</a:t>
            </a: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9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— Continuous monitoring of </a:t>
            </a:r>
            <a:r>
              <a:rPr b="0" i="0" lang="en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/var/log/auth.log and /var/log/syslog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"/>
              <a:buNone/>
            </a:pPr>
            <a:r>
              <a:t/>
            </a:r>
            <a:endParaRPr b="0" i="0" sz="950" u="none" cap="none" strike="noStrike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t/>
            </a:r>
            <a:endParaRPr b="0" i="0" sz="950" u="none" cap="none" strike="noStrike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857250" y="2213000"/>
            <a:ext cx="3846184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Threat Detection</a:t>
            </a:r>
            <a:r>
              <a:rPr b="0" i="0" lang="en" sz="9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— Identifies failed logins, invalid users, and suspicious sudo attempts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685800" y="2255862"/>
            <a:ext cx="51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600"/>
              <a:buFont typeface="Inter Medium"/>
              <a:buNone/>
            </a:pPr>
            <a:r>
              <a:rPr b="0" i="0" lang="en" sz="6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■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857248" y="2853104"/>
            <a:ext cx="39339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Automated Defense</a:t>
            </a: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9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— Direct integration with iptables to block threats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3693319" y="2867323"/>
            <a:ext cx="617237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857250" y="3493071"/>
            <a:ext cx="3846184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Threshold-Based Banning</a:t>
            </a:r>
            <a:r>
              <a:rPr b="0" i="0" lang="en" sz="9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— Automatically bans offending IPs after 4 failed attempts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132059" y="991195"/>
            <a:ext cx="3440441" cy="3723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685800" y="3535933"/>
            <a:ext cx="51792" cy="1371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600"/>
              <a:buFont typeface="Inter Medium"/>
              <a:buNone/>
            </a:pPr>
            <a:r>
              <a:rPr b="0" i="0" lang="en" sz="6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■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474959" y="2260829"/>
            <a:ext cx="2754641" cy="7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1" lang="en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Detection is only half the battle; response is what saves the system.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474959" y="3152319"/>
            <a:ext cx="2754641" cy="29289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474959" y="3152319"/>
            <a:ext cx="2754641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170050" spcFirstLastPara="1" rIns="170050" wrap="square" tIns="102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00"/>
              <a:buFont typeface="Inter Black"/>
              <a:buNone/>
            </a:pPr>
            <a:r>
              <a:rPr b="1" i="0" lang="en" sz="700" u="none" cap="none" strike="noStrike">
                <a:solidFill>
                  <a:srgbClr val="0F172A"/>
                </a:solidFill>
                <a:latin typeface="Inter Black"/>
                <a:ea typeface="Inter Black"/>
                <a:cs typeface="Inter Black"/>
                <a:sym typeface="Inter Black"/>
              </a:rPr>
              <a:t>THRESHOLD = 4 ATTEMPTS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8" name="Google Shape;1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Inter Black"/>
              <a:buNone/>
            </a:pPr>
            <a:r>
              <a:rPr b="1" i="0" lang="en" sz="1600" u="none" cap="none" strike="noStrike">
                <a:solidFill>
                  <a:srgbClr val="0F172A"/>
                </a:solidFill>
                <a:latin typeface="Inter Black"/>
                <a:ea typeface="Inter Black"/>
                <a:cs typeface="Inter Black"/>
                <a:sym typeface="Inter Black"/>
              </a:rPr>
              <a:t>Automated Defense: The Banning Logic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857250" y="1491258"/>
            <a:ext cx="425767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857250" y="1693069"/>
            <a:ext cx="4257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Scans for "Failed password" or "Invalid user" patterns in auth logs.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857250" y="2035969"/>
            <a:ext cx="425767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Tracking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857250" y="2237780"/>
            <a:ext cx="4257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Logs events to </a:t>
            </a:r>
            <a:r>
              <a:rPr b="1" i="0" lang="en" sz="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log.txt</a:t>
            </a: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with precise timestamps for auditability.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857250" y="2580680"/>
            <a:ext cx="425767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Validation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857250" y="2782491"/>
            <a:ext cx="4257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Checks if an IP is already banned via </a:t>
            </a:r>
            <a:r>
              <a:rPr b="1" i="0" lang="en" sz="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iptables -C</a:t>
            </a: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to avoid duplicates.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857250" y="3125391"/>
            <a:ext cx="425767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4. Execution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857250" y="3327202"/>
            <a:ext cx="4257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Inserts a DROP rule at the top of the INPUT chain for immediate blocking.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857250" y="3670102"/>
            <a:ext cx="425767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5. Persistence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857250" y="3871913"/>
            <a:ext cx="4257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Maintains a running history of all security events and automated bans.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543550" y="1923120"/>
            <a:ext cx="3028950" cy="124725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829300" y="2208870"/>
            <a:ext cx="2457450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00"/>
              <a:buFont typeface="Inter Black"/>
              <a:buNone/>
            </a:pPr>
            <a:r>
              <a:rPr b="1" i="0" lang="en" sz="700" u="none" cap="none" strike="noStrike">
                <a:solidFill>
                  <a:srgbClr val="F59E0B"/>
                </a:solidFill>
                <a:latin typeface="Inter Black"/>
                <a:ea typeface="Inter Black"/>
                <a:cs typeface="Inter Black"/>
                <a:sym typeface="Inter Black"/>
              </a:rPr>
              <a:t>BANNING COMMAND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829300" y="2473189"/>
            <a:ext cx="2457450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iptables -I INPUT 1 -s [IP] -j DROP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5543550" y="3456124"/>
            <a:ext cx="3028950" cy="326827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543550" y="3456124"/>
            <a:ext cx="3028950" cy="326827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204075" spcFirstLastPara="1" rIns="204075" wrap="square" tIns="102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 Black"/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Inter Black"/>
                <a:ea typeface="Inter Black"/>
                <a:cs typeface="Inter Black"/>
                <a:sym typeface="Inter Black"/>
              </a:rPr>
              <a:t>BAN THRESHOLD: 4 ATTEMPTS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Inter Black"/>
              <a:buNone/>
            </a:pPr>
            <a:r>
              <a:rPr b="1" i="0" lang="en" sz="1600" u="none" cap="none" strike="noStrike">
                <a:solidFill>
                  <a:srgbClr val="0F172A"/>
                </a:solidFill>
                <a:latin typeface="Inter Black"/>
                <a:ea typeface="Inter Black"/>
                <a:cs typeface="Inter Black"/>
                <a:sym typeface="Inter Black"/>
              </a:rPr>
              <a:t>Technical Implementation: C &amp; Bash Synergy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857250" y="1332170"/>
            <a:ext cx="42576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Main.c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857250" y="1583987"/>
            <a:ext cx="4257675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Central menu and module orchestration; handles the Part 2 self-test logic.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857250" y="1972596"/>
            <a:ext cx="42576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Part_1.c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857250" y="2224413"/>
            <a:ext cx="4257675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Implementation of the 7-point audit logic using </a:t>
            </a:r>
            <a:r>
              <a:rPr b="1" i="0" lang="en" sz="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popen()</a:t>
            </a: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to capture system command output.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857250" y="2773031"/>
            <a:ext cx="42576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DetectionMonitor.c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857250" y="3024848"/>
            <a:ext cx="4257675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Real-time monitoring engine using background </a:t>
            </a:r>
            <a:r>
              <a:rPr b="1" i="0" lang="en" sz="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tail -F</a:t>
            </a: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and bash-based event detection.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857250" y="3573466"/>
            <a:ext cx="42576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System Integration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857250" y="3825283"/>
            <a:ext cx="4257675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Leverages </a:t>
            </a:r>
            <a:r>
              <a:rPr b="1" i="0" lang="en" sz="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system()</a:t>
            </a: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for direct Linux command execution and automated response.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5543550" y="1735066"/>
            <a:ext cx="3028950" cy="117297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5829300" y="2020816"/>
            <a:ext cx="2457450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00"/>
              <a:buFont typeface="Inter Black"/>
              <a:buNone/>
            </a:pPr>
            <a:r>
              <a:rPr b="1" i="0" lang="en" sz="700" u="none" cap="none" strike="noStrike">
                <a:solidFill>
                  <a:srgbClr val="F59E0B"/>
                </a:solidFill>
                <a:latin typeface="Inter Black"/>
                <a:ea typeface="Inter Black"/>
                <a:cs typeface="Inter Black"/>
                <a:sym typeface="Inter Black"/>
              </a:rPr>
              <a:t>COMPILATION COMMAND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829300" y="2256560"/>
            <a:ext cx="2457450" cy="365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gcc Part_1.c Main.c DetectionMonitor.c -o security_auditor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5543550" y="3024861"/>
            <a:ext cx="3029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4075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The system uses a </a:t>
            </a:r>
            <a:r>
              <a:rPr b="1" i="0" lang="en" sz="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 wrapper</a:t>
            </a: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to manage background Bash processes, ensuring high-level control with low-level system access.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9" name="Google Shape;23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Inter Black"/>
              <a:buNone/>
            </a:pPr>
            <a:r>
              <a:rPr b="1" i="0" lang="en" sz="1600" u="none" cap="none" strike="noStrike">
                <a:solidFill>
                  <a:srgbClr val="0F172A"/>
                </a:solidFill>
                <a:latin typeface="Inter Black"/>
                <a:ea typeface="Inter Black"/>
                <a:cs typeface="Inter Black"/>
                <a:sym typeface="Inter Black"/>
              </a:rPr>
              <a:t>Reliability: Integrated Self-Test Mode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857250" y="1592163"/>
            <a:ext cx="425767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01. Simulation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857250" y="1793974"/>
            <a:ext cx="4257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Uses </a:t>
            </a:r>
            <a:r>
              <a:rPr b="1" i="0" lang="en" sz="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logger</a:t>
            </a: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to inject test events (failed logins, invalid users) into system logs.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857250" y="2136874"/>
            <a:ext cx="425767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02. Verification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857250" y="2338685"/>
            <a:ext cx="42576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Automatically checks </a:t>
            </a:r>
            <a:r>
              <a:rPr b="1" i="0" lang="en" sz="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log.txt</a:t>
            </a: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to ensure the monitor correctly recorded the injected events.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857250" y="2853035"/>
            <a:ext cx="425767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03. Validation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857250" y="3054846"/>
            <a:ext cx="4257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Confirms </a:t>
            </a:r>
            <a:r>
              <a:rPr b="1" i="0" lang="en" sz="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iptables</a:t>
            </a: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rules are correctly applied for the test IP (10.9.8.7).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857250" y="3397746"/>
            <a:ext cx="425767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04. Cleanup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857250" y="3599557"/>
            <a:ext cx="42576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Gracefully stops the monitor using </a:t>
            </a:r>
            <a:r>
              <a:rPr b="1" i="0" lang="en" sz="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SIGINT</a:t>
            </a: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and cleans up background processes.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5543550" y="1782561"/>
            <a:ext cx="3028950" cy="131584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829300" y="2068311"/>
            <a:ext cx="2457450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00"/>
              <a:buFont typeface="Inter Black"/>
              <a:buNone/>
            </a:pPr>
            <a:r>
              <a:rPr b="1" i="0" lang="en" sz="700" u="none" cap="none" strike="noStrike">
                <a:solidFill>
                  <a:srgbClr val="F59E0B"/>
                </a:solidFill>
                <a:latin typeface="Inter Black"/>
                <a:ea typeface="Inter Black"/>
                <a:cs typeface="Inter Black"/>
                <a:sym typeface="Inter Black"/>
              </a:rPr>
              <a:t>TEST INJECTION COMMAND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5829300" y="2332630"/>
            <a:ext cx="2457450" cy="4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logger -p authpriv.notice "Failed password for invalid user testuser from 10.9.8.7 port 2222 ssh2"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543550" y="3384156"/>
            <a:ext cx="3028950" cy="539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"/>
              <a:buNone/>
            </a:pPr>
            <a:r>
              <a:rPr b="1" i="1" lang="en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"A security tool is only as good as its last successful test."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8" name="Google Shape;2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Inter Black"/>
              <a:buNone/>
            </a:pPr>
            <a:r>
              <a:rPr b="1" i="0" lang="en" sz="1600" u="none" cap="none" strike="noStrike">
                <a:solidFill>
                  <a:srgbClr val="0F172A"/>
                </a:solidFill>
                <a:latin typeface="Inter Black"/>
                <a:ea typeface="Inter Black"/>
                <a:cs typeface="Inter Black"/>
                <a:sym typeface="Inter Black"/>
              </a:rPr>
              <a:t>Conclusion: Hardening Linux, One Check at a Time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571500" y="1874927"/>
            <a:ext cx="378618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Key Project Takeaways: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857250" y="2276763"/>
            <a:ext cx="3500438" cy="365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Automated auditing is the </a:t>
            </a:r>
            <a:r>
              <a:rPr b="1" i="0" lang="en" sz="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first line of defense</a:t>
            </a: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against misconfigurations.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857250" y="2871090"/>
            <a:ext cx="3500438" cy="365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Real-time monitoring provides </a:t>
            </a:r>
            <a:r>
              <a:rPr b="1" i="0" lang="en" sz="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essential ongoing protection</a:t>
            </a: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for live systems.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857250" y="3465416"/>
            <a:ext cx="3500438" cy="365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Our tool provides a </a:t>
            </a:r>
            <a:r>
              <a:rPr b="1" i="0" lang="en" sz="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practical, accessible way</a:t>
            </a:r>
            <a:r>
              <a:rPr b="0" i="0" lang="en" sz="8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to secure Linux environments.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685800" y="2305338"/>
            <a:ext cx="51792" cy="1371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600"/>
              <a:buFont typeface="Inter Medium"/>
              <a:buNone/>
            </a:pPr>
            <a:r>
              <a:rPr b="0" i="0" lang="en" sz="6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■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685800" y="2899665"/>
            <a:ext cx="51792" cy="1371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600"/>
              <a:buFont typeface="Inter Medium"/>
              <a:buNone/>
            </a:pPr>
            <a:r>
              <a:rPr b="0" i="0" lang="en" sz="6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■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685800" y="3493991"/>
            <a:ext cx="51792" cy="1371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600"/>
              <a:buFont typeface="Inter Medium"/>
              <a:buNone/>
            </a:pPr>
            <a:r>
              <a:rPr b="0" i="0" lang="en" sz="6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■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4786313" y="1276052"/>
            <a:ext cx="3786188" cy="2661047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5072063" y="1704677"/>
            <a:ext cx="3214688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1" lang="en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Every vulnerability closed is a door locked against attackers. Safer code and configurations lead to a more resilient digital </a:t>
            </a:r>
            <a:r>
              <a:rPr b="1" i="1"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environment</a:t>
            </a:r>
            <a:r>
              <a:rPr b="1" i="1" lang="en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5072063" y="2961977"/>
            <a:ext cx="3214688" cy="546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Inter Black"/>
              <a:buNone/>
            </a:pPr>
            <a:r>
              <a:rPr b="1" i="0" lang="en" sz="1000" u="none" cap="none" strike="noStrike">
                <a:solidFill>
                  <a:srgbClr val="F59E0B"/>
                </a:solidFill>
                <a:latin typeface="Inter Black"/>
                <a:ea typeface="Inter Black"/>
                <a:cs typeface="Inter Black"/>
                <a:sym typeface="Inter Black"/>
              </a:rPr>
              <a:t>INSTRUCTION SECURITY AUDITOR GROUP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4786313" y="4222849"/>
            <a:ext cx="3786188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 Black"/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Inter Black"/>
                <a:ea typeface="Inter Black"/>
                <a:cs typeface="Inter Black"/>
                <a:sym typeface="Inter Black"/>
              </a:rPr>
              <a:t>Thank you — Questions welcome.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4857750" y="1561802"/>
            <a:ext cx="237976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